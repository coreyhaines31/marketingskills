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78BE21"/>
                </a:solidFill>
                <a:latin typeface="Calibri"/>
              </a:rPr>
              <a:t>EMPOWERING THE UNIVERSITY OF KANSAS HEALTH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PRECISION IN
CARE DELIVERY.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749039"/>
            <a:ext cx="85313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D5E0"/>
                </a:solidFill>
                <a:latin typeface="Calibri"/>
              </a:rPr>
              <a:t>Integrating the healthcare print lifecycle to ensure brand integrity,
patient data security, and multi-million dollar operational savings.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809ABF"/>
                </a:solidFill>
                <a:latin typeface="Calibri"/>
              </a:rPr>
              <a:t>ENVISION  PRINT SOLUTIONS  |  UKHS STRATEGIC PARTNERSHIP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8BE21"/>
                </a:solidFill>
                <a:latin typeface="Calibri"/>
              </a:rPr>
              <a:t>CLINICAL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5943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087"/>
                </a:solidFill>
                <a:latin typeface="Calibri"/>
              </a:rPr>
              <a:t>The Print Challenges of
Modern Health 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10058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669"/>
                </a:solidFill>
                <a:latin typeface="Calibri"/>
              </a:rPr>
              <a:t>Managing brand consistency across an academic medical center
and hundreds of clinics requires high-performance logistics.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03120"/>
            <a:ext cx="3749039" cy="2103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78BE21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88920"/>
            <a:ext cx="3291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  <a:latin typeface="Calibri"/>
              </a:rPr>
              <a:t>Fragmented Clinic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0"/>
            <a:ext cx="32918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669"/>
                </a:solidFill>
                <a:latin typeface="Calibri"/>
              </a:rPr>
              <a:t>Disparate vendors across regional clinics leading to brand drift and hidden logistics costs.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2103120"/>
            <a:ext cx="3749039" cy="2103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79" y="22860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78BE21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788920"/>
            <a:ext cx="3291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  <a:latin typeface="Calibri"/>
              </a:rPr>
              <a:t>Data Privacy Standards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3200400"/>
            <a:ext cx="32918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669"/>
                </a:solidFill>
                <a:latin typeface="Calibri"/>
              </a:rPr>
              <a:t>Ensuring 100% HIPAA and PHI compliance for every personalized member communication.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8" y="2103120"/>
            <a:ext cx="3749039" cy="2103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198" y="22860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78BE21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198" y="2788920"/>
            <a:ext cx="3291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  <a:latin typeface="Calibri"/>
              </a:rPr>
              <a:t>Manual Patient Comm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198" y="3200400"/>
            <a:ext cx="32918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669"/>
                </a:solidFill>
                <a:latin typeface="Calibri"/>
              </a:rPr>
              <a:t>Slow workflows for critical patient education and discharge materials leading to care gaps.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15968"/>
            <a:ext cx="3749039" cy="2103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49884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78BE21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001768"/>
            <a:ext cx="3291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  <a:latin typeface="Calibri"/>
              </a:rPr>
              <a:t>Dynamic Localization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413248"/>
            <a:ext cx="32918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669"/>
                </a:solidFill>
                <a:latin typeface="Calibri"/>
              </a:rPr>
              <a:t>Managing facility-specific materials for hundreds of doctors and dozens of specialties.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79" y="4315968"/>
            <a:ext cx="3749039" cy="2103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79" y="449884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78BE21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79" y="5001768"/>
            <a:ext cx="3291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  <a:latin typeface="Calibri"/>
              </a:rPr>
              <a:t>Inventory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79" y="5413248"/>
            <a:ext cx="32918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669"/>
                </a:solidFill>
                <a:latin typeface="Calibri"/>
              </a:rPr>
              <a:t>Obsolete brochures and forms taking up valuable clinical floor space.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598" y="4315968"/>
            <a:ext cx="3749039" cy="2103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198" y="449884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78BE21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198" y="5001768"/>
            <a:ext cx="3291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  <a:latin typeface="Calibri"/>
              </a:rPr>
              <a:t>Lack of Optimization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198" y="5413248"/>
            <a:ext cx="32918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669"/>
                </a:solidFill>
                <a:latin typeface="Calibri"/>
              </a:rPr>
              <a:t>No system-wide analytics to identify cost-saving opportunities and waste reduction.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D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8BE21"/>
                </a:solidFill>
                <a:latin typeface="Calibri"/>
              </a:rPr>
              <a:t>OUR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Integrating the Clinical
Print Lifecycle.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468880"/>
            <a:ext cx="502920" cy="502920"/>
          </a:xfrm>
          <a:prstGeom prst="ellipse">
            <a:avLst/>
          </a:prstGeom>
          <a:noFill/>
          <a:ln w="19050">
            <a:solidFill>
              <a:srgbClr val="78B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523744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78BE21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46888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Discovery &amp; Compliance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852928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Detailed assessment of the KU Health System supply chain, prioritizing HIPAA protocols and brand cohesion.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794760"/>
            <a:ext cx="502920" cy="502920"/>
          </a:xfrm>
          <a:prstGeom prst="ellipse">
            <a:avLst/>
          </a:prstGeom>
          <a:noFill/>
          <a:ln w="19050">
            <a:solidFill>
              <a:srgbClr val="78B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849624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78BE21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79476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Validated 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178808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G7 certified technology with 100% inspection to ensure every patient touchpoint meets the system's standards.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5120640"/>
            <a:ext cx="502920" cy="502920"/>
          </a:xfrm>
          <a:prstGeom prst="ellipse">
            <a:avLst/>
          </a:prstGeom>
          <a:noFill/>
          <a:ln w="19050">
            <a:solidFill>
              <a:srgbClr val="78B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5175504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78BE21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12064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Digital Portal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504688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Web-to-print portals that allow clinics to order localized, pre-approved materials instantly, reducing overhead.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1371600"/>
            <a:ext cx="5029200" cy="4114800"/>
          </a:xfrm>
          <a:prstGeom prst="rect">
            <a:avLst/>
          </a:prstGeom>
          <a:solidFill>
            <a:srgbClr val="001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40" y="1828800"/>
            <a:ext cx="4297680" cy="3200400"/>
          </a:xfrm>
          <a:prstGeom prst="rect">
            <a:avLst/>
          </a:prstGeom>
          <a:noFill/>
          <a:ln w="38100">
            <a:solidFill>
              <a:srgbClr val="78B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219456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40557A"/>
                </a:solidFill>
                <a:latin typeface="Calibri"/>
              </a:rPr>
              <a:t>SECURITY.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83464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INTEGRITY.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749039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8BE21"/>
                </a:solidFill>
                <a:latin typeface="Calibri"/>
              </a:rPr>
              <a:t>ENGINEERED FOR UKHS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73152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03087"/>
                </a:solidFill>
                <a:latin typeface="Calibri"/>
              </a:rPr>
              <a:t>Operational Impact for UKHS.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956048" y="1508760"/>
            <a:ext cx="2286000" cy="91440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2011680"/>
            <a:ext cx="2743200" cy="411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30175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003087"/>
                </a:solidFill>
                <a:latin typeface="Calibri"/>
              </a:rPr>
              <a:t>25-40%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43891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75669"/>
                </a:solidFill>
                <a:latin typeface="Calibri"/>
              </a:rPr>
              <a:t>SYSTEM-WIDE SAVINGS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27832" y="2011680"/>
            <a:ext cx="2743200" cy="411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27832" y="30175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003087"/>
                </a:solidFill>
                <a:latin typeface="Calibri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7832" y="43891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75669"/>
                </a:solidFill>
                <a:latin typeface="Calibri"/>
              </a:rPr>
              <a:t>PHI/HIPAA COMPLIANCE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71616" y="2011680"/>
            <a:ext cx="2743200" cy="411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71616" y="30175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003087"/>
                </a:solidFill>
                <a:latin typeface="Calibri"/>
              </a:rPr>
              <a:t>20%+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71616" y="43891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75669"/>
                </a:solidFill>
                <a:latin typeface="Calibri"/>
              </a:rPr>
              <a:t>PATIENT ENGAGEMENT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400" y="2011680"/>
            <a:ext cx="2743200" cy="411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30175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003087"/>
                </a:solidFill>
                <a:latin typeface="Calibri"/>
              </a:rPr>
              <a:t>60%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43891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75669"/>
                </a:solidFill>
                <a:latin typeface="Calibri"/>
              </a:rPr>
              <a:t>INVENTORY WASTE REDUCTION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78BE21"/>
                </a:solidFill>
                <a:latin typeface="Calibri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669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03087"/>
                </a:solidFill>
                <a:latin typeface="Calibri"/>
              </a:rPr>
              <a:t>Envision has unified our brand voice across 300+ care locations, delivering significant annual savings while ensuring our patient data remains absolutely secure.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617720"/>
            <a:ext cx="914400" cy="73152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44348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  <a:latin typeface="Calibri"/>
              </a:rPr>
              <a:t>CLINICAL OPERATIONS LEAD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669"/>
                </a:solidFill>
                <a:latin typeface="Calibri"/>
              </a:rPr>
              <a:t>Top-Tier Academic Medical Center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0116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78BE21"/>
                </a:solidFill>
                <a:latin typeface="Calibri"/>
              </a:rPr>
              <a:t>300+ CARE LOCATIONS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7432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D5E0"/>
                </a:solidFill>
                <a:latin typeface="Calibri"/>
              </a:rPr>
              <a:t>One unified brand voice.
Complete PHI security.
Proven multi-million dollar savings.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8BE21"/>
                </a:solidFill>
                <a:latin typeface="Calibri"/>
              </a:rPr>
              <a:t>PARTNER SUCCESS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3087"/>
                </a:solidFill>
                <a:latin typeface="Calibri"/>
              </a:rPr>
              <a:t>Regional Academic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669"/>
                </a:solidFill>
                <a:latin typeface="Calibri"/>
              </a:rPr>
              <a:t>A multi-hospital academic system struggled with brand dilution across 45 specialty clinics and rising PHI compliance risks.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566160"/>
            <a:ext cx="411480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566160"/>
            <a:ext cx="64008" cy="1691640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703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Calibri"/>
              </a:rPr>
              <a:t>ENVISION'S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690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087"/>
                </a:solidFill>
                <a:latin typeface="Calibri"/>
              </a:rPr>
              <a:t>Consolidated on-demand ordering with dynamic clinic localization and audited HIPAA workflows.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001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0" y="2194560"/>
            <a:ext cx="2103120" cy="2011680"/>
          </a:xfrm>
          <a:prstGeom prst="rect">
            <a:avLst/>
          </a:prstGeom>
          <a:solidFill>
            <a:srgbClr val="002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0" y="2194560"/>
            <a:ext cx="2103120" cy="64008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651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$3.2M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429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CCD5E0"/>
                </a:solidFill>
                <a:latin typeface="Calibri"/>
              </a:rPr>
              <a:t>ANNUAL SAVINGS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43800" y="2194560"/>
            <a:ext cx="2103120" cy="2011680"/>
          </a:xfrm>
          <a:prstGeom prst="rect">
            <a:avLst/>
          </a:prstGeom>
          <a:solidFill>
            <a:srgbClr val="002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43800" y="2194560"/>
            <a:ext cx="2103120" cy="64008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2651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22%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429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CCD5E0"/>
                </a:solidFill>
                <a:latin typeface="Calibri"/>
              </a:rPr>
              <a:t>PATIENT RETURN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2194560"/>
            <a:ext cx="2103120" cy="2011680"/>
          </a:xfrm>
          <a:prstGeom prst="rect">
            <a:avLst/>
          </a:prstGeom>
          <a:solidFill>
            <a:srgbClr val="002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84080" y="2194560"/>
            <a:ext cx="2103120" cy="64008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2651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429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CCD5E0"/>
                </a:solidFill>
                <a:latin typeface="Calibri"/>
              </a:rPr>
              <a:t>AUDIT PASS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8BE21"/>
                </a:solidFill>
                <a:latin typeface="Calibri"/>
              </a:rPr>
              <a:t>PARTNER SUCCESS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3087"/>
                </a:solidFill>
                <a:latin typeface="Calibri"/>
              </a:rPr>
              <a:t>Cancer Center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669"/>
                </a:solidFill>
                <a:latin typeface="Calibri"/>
              </a:rPr>
              <a:t>Highly complex, personalized education packets were taking weeks to print and assemble, delaying care initiation.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566160"/>
            <a:ext cx="411480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566160"/>
            <a:ext cx="64008" cy="1691640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703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Calibri"/>
              </a:rPr>
              <a:t>ENVISION'S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690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087"/>
                </a:solidFill>
                <a:latin typeface="Calibri"/>
              </a:rPr>
              <a:t>Triggered on-demand digital production with automated kitting for personalized patient care plans.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001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0" y="2194560"/>
            <a:ext cx="2103120" cy="2011680"/>
          </a:xfrm>
          <a:prstGeom prst="rect">
            <a:avLst/>
          </a:prstGeom>
          <a:solidFill>
            <a:srgbClr val="002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0" y="2194560"/>
            <a:ext cx="2103120" cy="64008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651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429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CCD5E0"/>
                </a:solidFill>
                <a:latin typeface="Calibri"/>
              </a:rPr>
              <a:t>FASTER CYCLE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43800" y="2194560"/>
            <a:ext cx="2103120" cy="2011680"/>
          </a:xfrm>
          <a:prstGeom prst="rect">
            <a:avLst/>
          </a:prstGeom>
          <a:solidFill>
            <a:srgbClr val="002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43800" y="2194560"/>
            <a:ext cx="2103120" cy="64008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2651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429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CCD5E0"/>
                </a:solidFill>
                <a:latin typeface="Calibri"/>
              </a:rPr>
              <a:t>PATIENT SAT LIFT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2194560"/>
            <a:ext cx="2103120" cy="2011680"/>
          </a:xfrm>
          <a:prstGeom prst="rect">
            <a:avLst/>
          </a:prstGeom>
          <a:solidFill>
            <a:srgbClr val="002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84080" y="2194560"/>
            <a:ext cx="2103120" cy="64008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2651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ZERO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429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CCD5E0"/>
                </a:solidFill>
                <a:latin typeface="Calibri"/>
              </a:rPr>
              <a:t>WASTE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8BE21"/>
                </a:solidFill>
                <a:latin typeface="Calibri"/>
              </a:rPr>
              <a:t>PARTNER SUCCESS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3087"/>
                </a:solidFill>
                <a:latin typeface="Calibri"/>
              </a:rPr>
              <a:t>Health Plan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669"/>
                </a:solidFill>
                <a:latin typeface="Calibri"/>
              </a:rPr>
              <a:t>Member communication for Open Enrollment lacked dynamic personalization, resulting in low plan retention.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566160"/>
            <a:ext cx="411480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566160"/>
            <a:ext cx="64008" cy="1691640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703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Calibri"/>
              </a:rPr>
              <a:t>ENVISION'S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690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087"/>
                </a:solidFill>
                <a:latin typeface="Calibri"/>
              </a:rPr>
              <a:t>Full-color variable data direct mail utilizing predictive modeling to offer personalized benefits highlights.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001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0" y="2194560"/>
            <a:ext cx="2103120" cy="2011680"/>
          </a:xfrm>
          <a:prstGeom prst="rect">
            <a:avLst/>
          </a:prstGeom>
          <a:solidFill>
            <a:srgbClr val="002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0" y="2194560"/>
            <a:ext cx="2103120" cy="64008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651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31%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429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CCD5E0"/>
                </a:solidFill>
                <a:latin typeface="Calibri"/>
              </a:rPr>
              <a:t>HIGHER RETENTION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43800" y="2194560"/>
            <a:ext cx="2103120" cy="2011680"/>
          </a:xfrm>
          <a:prstGeom prst="rect">
            <a:avLst/>
          </a:prstGeom>
          <a:solidFill>
            <a:srgbClr val="002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43800" y="2194560"/>
            <a:ext cx="2103120" cy="64008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2651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14x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429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CCD5E0"/>
                </a:solidFill>
                <a:latin typeface="Calibri"/>
              </a:rPr>
              <a:t>RETURN ON AD SPEND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2194560"/>
            <a:ext cx="2103120" cy="2011680"/>
          </a:xfrm>
          <a:prstGeom prst="rect">
            <a:avLst/>
          </a:prstGeom>
          <a:solidFill>
            <a:srgbClr val="002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84080" y="2194560"/>
            <a:ext cx="2103120" cy="64008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2651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360°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429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CCD5E0"/>
                </a:solidFill>
                <a:latin typeface="Calibri"/>
              </a:rPr>
              <a:t>VIEW ENABLED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77240"/>
            <a:ext cx="10360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3087"/>
                </a:solidFill>
                <a:latin typeface="Calibri"/>
              </a:rPr>
              <a:t>Advancing the power of
medicine through print.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377440"/>
            <a:ext cx="85313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75669"/>
                </a:solidFill>
                <a:latin typeface="Calibri"/>
              </a:rPr>
              <a:t>Let's schedule a strategic audit for The University of Kansas Health System
to streamline clinical operations and boost brand consistency.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337560"/>
            <a:ext cx="4114800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83080" y="3456432"/>
            <a:ext cx="411480" cy="411480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83080" y="34564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344728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  <a:latin typeface="Calibri"/>
              </a:rPr>
              <a:t>Standardize System Brand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3337560"/>
            <a:ext cx="4114800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3456432"/>
            <a:ext cx="411480" cy="411480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34564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344728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  <a:latin typeface="Calibri"/>
              </a:rPr>
              <a:t>Automate Clinic Ordering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4617720"/>
            <a:ext cx="4507992" cy="7772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4709160"/>
            <a:ext cx="4507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REQUEST ASSESSMENT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D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8BE21"/>
                </a:solidFill>
                <a:latin typeface="Calibri"/>
              </a:rPr>
              <a:t>LOCAL COMMITMENT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Support for
Kansas Leaders.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Our leadership team is dedicated to supporting the unique mission of The University of Kansas Health System across the region.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0" y="1097280"/>
            <a:ext cx="36576" cy="5029200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0" y="1188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Sebastian Zahr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691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78BE21"/>
                </a:solidFill>
                <a:latin typeface="Calibri"/>
              </a:rPr>
              <a:t>CHIEF REVENUE &amp;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651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316-655-4243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063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90AA"/>
                </a:solidFill>
                <a:latin typeface="Calibri"/>
              </a:rPr>
              <a:t>Sebastian.Zahr@Envisionus.com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3720" y="1097280"/>
            <a:ext cx="36576" cy="5029200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1188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Kathy Vines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691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78BE21"/>
                </a:solidFill>
                <a:latin typeface="Calibri"/>
              </a:rPr>
              <a:t>VP STRATEGIC PARTNERSHIPS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651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316-425-7105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063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90AA"/>
                </a:solidFill>
                <a:latin typeface="Calibri"/>
              </a:rPr>
              <a:t>Kathy.Vines@Envisionus.com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84080" y="1097280"/>
            <a:ext cx="36576" cy="5029200"/>
          </a:xfrm>
          <a:prstGeom prst="rect">
            <a:avLst/>
          </a:prstGeom>
          <a:solidFill>
            <a:srgbClr val="78BE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0" y="1188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Rob Narron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1691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78BE21"/>
                </a:solidFill>
                <a:latin typeface="Calibri"/>
              </a:rPr>
              <a:t>STRATEGIC BUSINESS DEV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2651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316-425-7268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3063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90AA"/>
                </a:solidFill>
                <a:latin typeface="Calibri"/>
              </a:rPr>
              <a:t>Rob.Narron@Envisionus.com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