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08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78BE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280160"/>
            <a:ext cx="10360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78BE21"/>
                </a:solidFill>
                <a:latin typeface="Calibri"/>
              </a:rPr>
              <a:t>PARTNERING FOR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60152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Calibri"/>
              </a:rPr>
              <a:t>HIGH-IMPACT PRINTING.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4114800"/>
            <a:ext cx="85313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CCD5E0"/>
                </a:solidFill>
                <a:latin typeface="Calibri"/>
              </a:rPr>
              <a:t>Integrating every stage of the print lifecycle to drive quality,
efficiency, and multi-million dollar business results.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78BE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809ABF"/>
                </a:solidFill>
                <a:latin typeface="Calibri"/>
              </a:rPr>
              <a:t>ENVISION  PRINT SOLUTIONS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78BE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78BE21"/>
                </a:solidFill>
                <a:latin typeface="Calibri"/>
              </a:rPr>
              <a:t>MARKET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3087"/>
                </a:solidFill>
                <a:latin typeface="Calibri"/>
              </a:rPr>
              <a:t>The Print Challenges
Facing Enterprises.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0" y="1005840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669"/>
                </a:solidFill>
                <a:latin typeface="Calibri"/>
              </a:rPr>
              <a:t>Fragmented supply chains and manual processes are
silent profit killers in the modern enterprise.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2103120"/>
            <a:ext cx="3749039" cy="21031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28600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78BE21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788920"/>
            <a:ext cx="32918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3087"/>
                </a:solidFill>
                <a:latin typeface="Calibri"/>
              </a:rPr>
              <a:t>Fragmented Supply Chain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200400"/>
            <a:ext cx="329183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5669"/>
                </a:solidFill>
                <a:latin typeface="Calibri"/>
              </a:rPr>
              <a:t>No single point of accountability leads to hidden costs and vendor fatigue.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79" y="2103120"/>
            <a:ext cx="3749039" cy="21031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79" y="228600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78BE21"/>
                </a:solidFill>
                <a:latin typeface="Calibr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79" y="2788920"/>
            <a:ext cx="32918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3087"/>
                </a:solidFill>
                <a:latin typeface="Calibri"/>
              </a:rPr>
              <a:t>Quality Inconsistency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79" y="3200400"/>
            <a:ext cx="329183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5669"/>
                </a:solidFill>
                <a:latin typeface="Calibri"/>
              </a:rPr>
              <a:t>Unreliable color accuracy erodes brand trust across different markets.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598" y="2103120"/>
            <a:ext cx="3749039" cy="21031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58198" y="228600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78BE21"/>
                </a:solidFill>
                <a:latin typeface="Calibr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198" y="2788920"/>
            <a:ext cx="32918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3087"/>
                </a:solidFill>
                <a:latin typeface="Calibri"/>
              </a:rPr>
              <a:t>Manual Bottlenecks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198" y="3200400"/>
            <a:ext cx="329183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5669"/>
                </a:solidFill>
                <a:latin typeface="Calibri"/>
              </a:rPr>
              <a:t>Archaic workflows and ordering systems create errors and project delays.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315968"/>
            <a:ext cx="3749039" cy="21031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4498848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78BE21"/>
                </a:solidFill>
                <a:latin typeface="Calibri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5001768"/>
            <a:ext cx="32918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3087"/>
                </a:solidFill>
                <a:latin typeface="Calibri"/>
              </a:rPr>
              <a:t>Scale Barriers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413248"/>
            <a:ext cx="329183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5669"/>
                </a:solidFill>
                <a:latin typeface="Calibri"/>
              </a:rPr>
              <a:t>Inability to execute 1-to-1 personalized campaigns at enterprise volumes.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97679" y="4315968"/>
            <a:ext cx="3749039" cy="21031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26279" y="4498848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78BE21"/>
                </a:solidFill>
                <a:latin typeface="Calibri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6279" y="5001768"/>
            <a:ext cx="32918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3087"/>
                </a:solidFill>
                <a:latin typeface="Calibri"/>
              </a:rPr>
              <a:t>Inventory Waste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6279" y="5413248"/>
            <a:ext cx="329183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5669"/>
                </a:solidFill>
                <a:latin typeface="Calibri"/>
              </a:rPr>
              <a:t>Capital locked in warehousing obsolete assets that end up in landfills.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598" y="4315968"/>
            <a:ext cx="3749039" cy="21031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58198" y="4498848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78BE21"/>
                </a:solidFill>
                <a:latin typeface="Calibri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58198" y="5001768"/>
            <a:ext cx="32918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3087"/>
                </a:solidFill>
                <a:latin typeface="Calibri"/>
              </a:rPr>
              <a:t>Reporting Blind Spots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58198" y="5413248"/>
            <a:ext cx="329183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5669"/>
                </a:solidFill>
                <a:latin typeface="Calibri"/>
              </a:rPr>
              <a:t>Lack of analytics to optimize ROI and justify print marketing spend.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1D5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78BE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78BE21"/>
                </a:solidFill>
                <a:latin typeface="Calibri"/>
              </a:rPr>
              <a:t>OUR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5029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Integrating the
Print Lifecycle.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2468880"/>
            <a:ext cx="502920" cy="502920"/>
          </a:xfrm>
          <a:prstGeom prst="ellipse">
            <a:avLst/>
          </a:prstGeom>
          <a:noFill/>
          <a:ln w="19050">
            <a:solidFill>
              <a:srgbClr val="78BE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2514600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78BE21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4688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Discovery &amp; Strategy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83464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Cost reduction audits and goal alignment to ensure every piece has a purpose.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3794760"/>
            <a:ext cx="502920" cy="502920"/>
          </a:xfrm>
          <a:prstGeom prst="ellipse">
            <a:avLst/>
          </a:prstGeom>
          <a:noFill/>
          <a:ln w="19050">
            <a:solidFill>
              <a:srgbClr val="78BE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3840480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78BE21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7947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Automated Production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416052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G7 certified tech paired with ISO 9001 quality control for flawless execution.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5120640"/>
            <a:ext cx="502920" cy="502920"/>
          </a:xfrm>
          <a:prstGeom prst="ellipse">
            <a:avLst/>
          </a:prstGeom>
          <a:noFill/>
          <a:ln w="19050">
            <a:solidFill>
              <a:srgbClr val="78BE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5166360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78BE21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51206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Technology &amp; Analytics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548640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Web-to-print portals and attribution modeling to measure true campaign ROI.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0" y="1371600"/>
            <a:ext cx="5029200" cy="4114800"/>
          </a:xfrm>
          <a:prstGeom prst="rect">
            <a:avLst/>
          </a:prstGeom>
          <a:solidFill>
            <a:srgbClr val="001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949440" y="1828800"/>
            <a:ext cx="4297680" cy="3200400"/>
          </a:xfrm>
          <a:prstGeom prst="rect">
            <a:avLst/>
          </a:prstGeom>
          <a:noFill/>
          <a:ln w="38100">
            <a:solidFill>
              <a:srgbClr val="78BE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0" y="2194560"/>
            <a:ext cx="3931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40557A"/>
                </a:solidFill>
                <a:latin typeface="Calibri"/>
              </a:rPr>
              <a:t>SPEED.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2834640"/>
            <a:ext cx="3931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  <a:latin typeface="Calibri"/>
              </a:rPr>
              <a:t>PRECISION.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0" y="3749039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78BE21"/>
                </a:solidFill>
                <a:latin typeface="Calibri"/>
              </a:rPr>
              <a:t>ENGINEERED FOR ENTERPRISE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78BE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731520"/>
            <a:ext cx="121889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003087"/>
                </a:solidFill>
                <a:latin typeface="Calibri"/>
              </a:rPr>
              <a:t>Measurable Outcomes.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13248" y="1508760"/>
            <a:ext cx="1371600" cy="91440"/>
          </a:xfrm>
          <a:prstGeom prst="rect">
            <a:avLst/>
          </a:prstGeom>
          <a:solidFill>
            <a:srgbClr val="78BE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84048" y="2011680"/>
            <a:ext cx="2743200" cy="41148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310896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003087"/>
                </a:solidFill>
                <a:latin typeface="Calibri"/>
              </a:rPr>
              <a:t>25-40%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45720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475669"/>
                </a:solidFill>
                <a:latin typeface="Calibri"/>
              </a:rPr>
              <a:t>SPEND REDUCTION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27832" y="2011680"/>
            <a:ext cx="2743200" cy="41148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27832" y="310896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003087"/>
                </a:solidFill>
                <a:latin typeface="Calibri"/>
              </a:rPr>
              <a:t>50%+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27832" y="45720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475669"/>
                </a:solidFill>
                <a:latin typeface="Calibri"/>
              </a:rPr>
              <a:t>SPEED TO MARKET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71616" y="2011680"/>
            <a:ext cx="2743200" cy="41148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71616" y="310896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003087"/>
                </a:solidFill>
                <a:latin typeface="Calibri"/>
              </a:rPr>
              <a:t>20%+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71616" y="45720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475669"/>
                </a:solidFill>
                <a:latin typeface="Calibri"/>
              </a:rPr>
              <a:t>RESPONSE BOOST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15400" y="2011680"/>
            <a:ext cx="2743200" cy="41148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15400" y="310896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003087"/>
                </a:solidFill>
                <a:latin typeface="Calibri"/>
              </a:rPr>
              <a:t>100%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15400" y="45720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475669"/>
                </a:solidFill>
                <a:latin typeface="Calibri"/>
              </a:rPr>
              <a:t>ON-TIME DELIVERY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78BE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731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>
                <a:solidFill>
                  <a:srgbClr val="78BE21"/>
                </a:solidFill>
                <a:latin typeface="Calibri"/>
              </a:rPr>
              <a:t>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6692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3087"/>
                </a:solidFill>
                <a:latin typeface="Calibri"/>
              </a:rPr>
              <a:t>Envision has transformed our print supply chain into a competitive advantage and profit center. Their solutions have delivered multi-million dollar savings.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4663440"/>
            <a:ext cx="914400" cy="73152"/>
          </a:xfrm>
          <a:prstGeom prst="rect">
            <a:avLst/>
          </a:prstGeom>
          <a:solidFill>
            <a:srgbClr val="78BE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920240" y="448056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3087"/>
                </a:solidFill>
                <a:latin typeface="Calibri"/>
              </a:rPr>
              <a:t>CHIEF MARKETING OFFICER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4892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669"/>
                </a:solidFill>
                <a:latin typeface="Calibri"/>
              </a:rPr>
              <a:t>Fortune 500 Financial Services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0" y="0"/>
            <a:ext cx="5330952" cy="685800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0" y="228600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78BE21"/>
                </a:solidFill>
                <a:latin typeface="Calibri"/>
              </a:rPr>
              <a:t>RESULTS THAT MATTER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292608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CD5E0"/>
                </a:solidFill>
                <a:latin typeface="Calibri"/>
              </a:rPr>
              <a:t>Trusted by Fortune 500 companies
across financial services, healthcare,
retail and CPG.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78BE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78BE21"/>
                </a:solidFill>
                <a:latin typeface="Calibri"/>
              </a:rPr>
              <a:t>SUCCESS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4114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3087"/>
                </a:solidFill>
                <a:latin typeface="Calibri"/>
              </a:rPr>
              <a:t>Leading Healthcare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4114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669"/>
                </a:solidFill>
                <a:latin typeface="Calibri"/>
              </a:rPr>
              <a:t>Fragmented operations and manual processes were hindering HIPAA-compliant member communications at scale.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566160"/>
            <a:ext cx="411480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37033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94A3B8"/>
                </a:solidFill>
                <a:latin typeface="Calibri"/>
              </a:rPr>
              <a:t>THE 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069080"/>
            <a:ext cx="3657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3087"/>
                </a:solidFill>
                <a:latin typeface="Calibri"/>
              </a:rPr>
              <a:t>Centralized on-demand dynamic printing with closed-loop attribution.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566160"/>
            <a:ext cx="64008" cy="1645920"/>
          </a:xfrm>
          <a:prstGeom prst="rect">
            <a:avLst/>
          </a:prstGeom>
          <a:solidFill>
            <a:srgbClr val="78BE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0" y="0"/>
            <a:ext cx="7159752" cy="6858000"/>
          </a:xfrm>
          <a:prstGeom prst="rect">
            <a:avLst/>
          </a:prstGeom>
          <a:solidFill>
            <a:srgbClr val="001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0" y="2194560"/>
            <a:ext cx="2103120" cy="2011680"/>
          </a:xfrm>
          <a:prstGeom prst="rect">
            <a:avLst/>
          </a:prstGeom>
          <a:solidFill>
            <a:srgbClr val="002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303520" y="2194560"/>
            <a:ext cx="2103120" cy="64008"/>
          </a:xfrm>
          <a:prstGeom prst="rect">
            <a:avLst/>
          </a:prstGeom>
          <a:solidFill>
            <a:srgbClr val="78BE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0" y="265176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Calibri"/>
              </a:rPr>
              <a:t>$3M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33832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CCD5E0"/>
                </a:solidFill>
                <a:latin typeface="Calibri"/>
              </a:rPr>
              <a:t>SAVINGS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43800" y="2194560"/>
            <a:ext cx="2103120" cy="2011680"/>
          </a:xfrm>
          <a:prstGeom prst="rect">
            <a:avLst/>
          </a:prstGeom>
          <a:solidFill>
            <a:srgbClr val="002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543800" y="2194560"/>
            <a:ext cx="2103120" cy="64008"/>
          </a:xfrm>
          <a:prstGeom prst="rect">
            <a:avLst/>
          </a:prstGeom>
          <a:solidFill>
            <a:srgbClr val="78BE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43800" y="265176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Calibri"/>
              </a:rPr>
              <a:t>25%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43800" y="33832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CCD5E0"/>
                </a:solidFill>
                <a:latin typeface="Calibri"/>
              </a:rPr>
              <a:t>RESPONSE LIFT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784080" y="2194560"/>
            <a:ext cx="2103120" cy="2011680"/>
          </a:xfrm>
          <a:prstGeom prst="rect">
            <a:avLst/>
          </a:prstGeom>
          <a:solidFill>
            <a:srgbClr val="002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784080" y="2194560"/>
            <a:ext cx="2103120" cy="64008"/>
          </a:xfrm>
          <a:prstGeom prst="rect">
            <a:avLst/>
          </a:prstGeom>
          <a:solidFill>
            <a:srgbClr val="78BE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84080" y="265176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Calibri"/>
              </a:rPr>
              <a:t>100%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84080" y="33832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CCD5E0"/>
                </a:solidFill>
                <a:latin typeface="Calibri"/>
              </a:rPr>
              <a:t>PHI SAFE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78BE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78BE21"/>
                </a:solidFill>
                <a:latin typeface="Calibri"/>
              </a:rPr>
              <a:t>SUCCESS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4114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3087"/>
                </a:solidFill>
                <a:latin typeface="Calibri"/>
              </a:rPr>
              <a:t>Global CPG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4114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669"/>
                </a:solidFill>
                <a:latin typeface="Calibri"/>
              </a:rPr>
              <a:t>Slow time-to-market for new SKUs and high fixed costs for local market plate/proofing.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566160"/>
            <a:ext cx="411480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37033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94A3B8"/>
                </a:solidFill>
                <a:latin typeface="Calibri"/>
              </a:rPr>
              <a:t>THE 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069080"/>
            <a:ext cx="3657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3087"/>
                </a:solidFill>
                <a:latin typeface="Calibri"/>
              </a:rPr>
              <a:t>Digital-first network and automated asset versioning for instant localization.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566160"/>
            <a:ext cx="64008" cy="1645920"/>
          </a:xfrm>
          <a:prstGeom prst="rect">
            <a:avLst/>
          </a:prstGeom>
          <a:solidFill>
            <a:srgbClr val="78BE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0" y="0"/>
            <a:ext cx="7159752" cy="6858000"/>
          </a:xfrm>
          <a:prstGeom prst="rect">
            <a:avLst/>
          </a:prstGeom>
          <a:solidFill>
            <a:srgbClr val="001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0" y="2194560"/>
            <a:ext cx="2103120" cy="2011680"/>
          </a:xfrm>
          <a:prstGeom prst="rect">
            <a:avLst/>
          </a:prstGeom>
          <a:solidFill>
            <a:srgbClr val="002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303520" y="2194560"/>
            <a:ext cx="2103120" cy="64008"/>
          </a:xfrm>
          <a:prstGeom prst="rect">
            <a:avLst/>
          </a:prstGeom>
          <a:solidFill>
            <a:srgbClr val="78BE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0" y="265176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Calibri"/>
              </a:rPr>
              <a:t>60%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33832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CCD5E0"/>
                </a:solidFill>
                <a:latin typeface="Calibri"/>
              </a:rPr>
              <a:t>SPEED INCREASE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43800" y="2194560"/>
            <a:ext cx="2103120" cy="2011680"/>
          </a:xfrm>
          <a:prstGeom prst="rect">
            <a:avLst/>
          </a:prstGeom>
          <a:solidFill>
            <a:srgbClr val="002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543800" y="2194560"/>
            <a:ext cx="2103120" cy="64008"/>
          </a:xfrm>
          <a:prstGeom prst="rect">
            <a:avLst/>
          </a:prstGeom>
          <a:solidFill>
            <a:srgbClr val="78BE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43800" y="265176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Calibri"/>
              </a:rPr>
              <a:t>43%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43800" y="33832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CCD5E0"/>
                </a:solidFill>
                <a:latin typeface="Calibri"/>
              </a:rPr>
              <a:t>COST REDUCTION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784080" y="2194560"/>
            <a:ext cx="2103120" cy="2011680"/>
          </a:xfrm>
          <a:prstGeom prst="rect">
            <a:avLst/>
          </a:prstGeom>
          <a:solidFill>
            <a:srgbClr val="002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784080" y="2194560"/>
            <a:ext cx="2103120" cy="64008"/>
          </a:xfrm>
          <a:prstGeom prst="rect">
            <a:avLst/>
          </a:prstGeom>
          <a:solidFill>
            <a:srgbClr val="78BE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84080" y="265176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Calibri"/>
              </a:rPr>
              <a:t>12%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84080" y="33832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CCD5E0"/>
                </a:solidFill>
                <a:latin typeface="Calibri"/>
              </a:rPr>
              <a:t>SALES LIFT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78BE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78BE21"/>
                </a:solidFill>
                <a:latin typeface="Calibri"/>
              </a:rPr>
              <a:t>SUCCESS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4114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3087"/>
                </a:solidFill>
                <a:latin typeface="Calibri"/>
              </a:rPr>
              <a:t>National Retailer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4114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669"/>
                </a:solidFill>
                <a:latin typeface="Calibri"/>
              </a:rPr>
              <a:t>Wasted spend on mass circulars with no personalization or tracking capabilities.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566160"/>
            <a:ext cx="411480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37033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94A3B8"/>
                </a:solidFill>
                <a:latin typeface="Calibri"/>
              </a:rPr>
              <a:t>THE 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069080"/>
            <a:ext cx="3657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3087"/>
                </a:solidFill>
                <a:latin typeface="Calibri"/>
              </a:rPr>
              <a:t>Variable direct mail with lookalike modeling and unique digital promo integration.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566160"/>
            <a:ext cx="64008" cy="1645920"/>
          </a:xfrm>
          <a:prstGeom prst="rect">
            <a:avLst/>
          </a:prstGeom>
          <a:solidFill>
            <a:srgbClr val="78BE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0" y="0"/>
            <a:ext cx="7159752" cy="6858000"/>
          </a:xfrm>
          <a:prstGeom prst="rect">
            <a:avLst/>
          </a:prstGeom>
          <a:solidFill>
            <a:srgbClr val="001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0" y="2194560"/>
            <a:ext cx="2103120" cy="2011680"/>
          </a:xfrm>
          <a:prstGeom prst="rect">
            <a:avLst/>
          </a:prstGeom>
          <a:solidFill>
            <a:srgbClr val="002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303520" y="2194560"/>
            <a:ext cx="2103120" cy="64008"/>
          </a:xfrm>
          <a:prstGeom prst="rect">
            <a:avLst/>
          </a:prstGeom>
          <a:solidFill>
            <a:srgbClr val="78BE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0" y="265176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Calibri"/>
              </a:rPr>
              <a:t>4.7x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33832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CCD5E0"/>
                </a:solidFill>
                <a:latin typeface="Calibri"/>
              </a:rPr>
              <a:t>ROAS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43800" y="2194560"/>
            <a:ext cx="2103120" cy="2011680"/>
          </a:xfrm>
          <a:prstGeom prst="rect">
            <a:avLst/>
          </a:prstGeom>
          <a:solidFill>
            <a:srgbClr val="002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543800" y="2194560"/>
            <a:ext cx="2103120" cy="64008"/>
          </a:xfrm>
          <a:prstGeom prst="rect">
            <a:avLst/>
          </a:prstGeom>
          <a:solidFill>
            <a:srgbClr val="78BE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43800" y="265176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Calibri"/>
              </a:rPr>
              <a:t>22%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43800" y="33832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CCD5E0"/>
                </a:solidFill>
                <a:latin typeface="Calibri"/>
              </a:rPr>
              <a:t>REDEMPTION RATE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784080" y="2194560"/>
            <a:ext cx="2103120" cy="2011680"/>
          </a:xfrm>
          <a:prstGeom prst="rect">
            <a:avLst/>
          </a:prstGeom>
          <a:solidFill>
            <a:srgbClr val="002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784080" y="2194560"/>
            <a:ext cx="2103120" cy="64008"/>
          </a:xfrm>
          <a:prstGeom prst="rect">
            <a:avLst/>
          </a:prstGeom>
          <a:solidFill>
            <a:srgbClr val="78BE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84080" y="265176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Calibri"/>
              </a:rPr>
              <a:t>360°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84080" y="33832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CCD5E0"/>
                </a:solidFill>
                <a:latin typeface="Calibri"/>
              </a:rPr>
              <a:t>ATTRIBUTION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78BE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731520"/>
            <a:ext cx="944575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003087"/>
                </a:solidFill>
                <a:latin typeface="Calibri"/>
              </a:rPr>
              <a:t>Ready to realize your print potential?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286000"/>
            <a:ext cx="8531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75669"/>
                </a:solidFill>
                <a:latin typeface="Calibri"/>
              </a:rPr>
              <a:t>Schedule a strategic print assessment to uncover hidden efficiencies
and boost your marketing ROI with a partner accountable to your goals.</a:t>
            </a:r>
          </a:p>
        </p:txBody>
      </p:sp>
      <p:sp>
        <p:nvSpPr>
          <p:cNvPr id="5" name="Rectangle 4"/>
          <p:cNvSpPr/>
          <p:nvPr/>
        </p:nvSpPr>
        <p:spPr>
          <a:xfrm>
            <a:off x="1645920" y="3291840"/>
            <a:ext cx="4114800" cy="6858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783080" y="3410712"/>
            <a:ext cx="411480" cy="411480"/>
          </a:xfrm>
          <a:prstGeom prst="rect">
            <a:avLst/>
          </a:prstGeom>
          <a:solidFill>
            <a:srgbClr val="78BE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783080" y="3410712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31720" y="3401568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3087"/>
                </a:solidFill>
                <a:latin typeface="Calibri"/>
              </a:rPr>
              <a:t>Streamline Fragmented Operations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3291840"/>
            <a:ext cx="4114800" cy="6858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3410712"/>
            <a:ext cx="411480" cy="411480"/>
          </a:xfrm>
          <a:prstGeom prst="rect">
            <a:avLst/>
          </a:prstGeom>
          <a:solidFill>
            <a:srgbClr val="78BE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3410712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12280" y="3401568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3087"/>
                </a:solidFill>
                <a:latin typeface="Calibri"/>
              </a:rPr>
              <a:t>Ensure Brand Consistency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23360" y="4572000"/>
            <a:ext cx="4142232" cy="77724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23360" y="4663440"/>
            <a:ext cx="41422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REQUEST ASSESSMENT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1D5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78BE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78BE21"/>
                </a:solidFill>
                <a:latin typeface="Calibri"/>
              </a:rPr>
              <a:t>LET'S GET STARTED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3200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Expert Advice.
Proven Results.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Our leadership team is ready to discuss your unique print challenges and design a custom solution architecture.</a:t>
            </a:r>
          </a:p>
        </p:txBody>
      </p:sp>
      <p:sp>
        <p:nvSpPr>
          <p:cNvPr id="6" name="Rectangle 5"/>
          <p:cNvSpPr/>
          <p:nvPr/>
        </p:nvSpPr>
        <p:spPr>
          <a:xfrm>
            <a:off x="4023360" y="1097280"/>
            <a:ext cx="36576" cy="5029200"/>
          </a:xfrm>
          <a:prstGeom prst="rect">
            <a:avLst/>
          </a:prstGeom>
          <a:solidFill>
            <a:srgbClr val="78BE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06240" y="11887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Sebastian Zahr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16916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78BE21"/>
                </a:solidFill>
                <a:latin typeface="Calibri"/>
              </a:rPr>
              <a:t>CHIEF REVENUE &amp; STRATEGY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26517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316-655-4243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30632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A90AA"/>
                </a:solidFill>
                <a:latin typeface="Calibri"/>
              </a:rPr>
              <a:t>Sebastian.Zahr@Envisionus.com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03720" y="1097280"/>
            <a:ext cx="36576" cy="5029200"/>
          </a:xfrm>
          <a:prstGeom prst="rect">
            <a:avLst/>
          </a:prstGeom>
          <a:solidFill>
            <a:srgbClr val="78BE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86600" y="11887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Kathy Vines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86600" y="16916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78BE21"/>
                </a:solidFill>
                <a:latin typeface="Calibri"/>
              </a:rPr>
              <a:t>VP STRATEGIC PARTNERSHIPS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86600" y="26517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316-425-7105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86600" y="30632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A90AA"/>
                </a:solidFill>
                <a:latin typeface="Calibri"/>
              </a:rPr>
              <a:t>Kathy.Vines@Envisionus.com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784080" y="1097280"/>
            <a:ext cx="36576" cy="5029200"/>
          </a:xfrm>
          <a:prstGeom prst="rect">
            <a:avLst/>
          </a:prstGeom>
          <a:solidFill>
            <a:srgbClr val="78BE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966960" y="11887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Rob Narron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66960" y="16916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78BE21"/>
                </a:solidFill>
                <a:latin typeface="Calibri"/>
              </a:rPr>
              <a:t>STRATEGIC BUSINESS DEV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66960" y="26517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316-425-7268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66960" y="30632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A90AA"/>
                </a:solidFill>
                <a:latin typeface="Calibri"/>
              </a:rPr>
              <a:t>Rob.Narron@Envisionus.com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